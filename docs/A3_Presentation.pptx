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5852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2D3A6B"/>
                </a:solidFill>
                <a:latin typeface="Calibri"/>
              </a:rPr>
              <a:t>FINM3422 — Tutorial 7, Group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5852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Multi-Asset Risk &amp;
Derivatives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5852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5B8DEF"/>
                </a:solidFill>
                <a:latin typeface="Calibri"/>
              </a:rPr>
              <a:t>A3 — Risk &amp; Derivatives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37560"/>
            <a:ext cx="5852160" cy="8915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D3A6B"/>
                </a:solidFill>
                <a:latin typeface="Calibri"/>
              </a:rPr>
              <a:t>Indigo Hill – 47057465
Jordan Westerberg – 48917258
Elizabeth Kvyatkovska – 48426983
Math Al-Abudi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5262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D3A6B"/>
                </a:solidFill>
                <a:latin typeface="Calibri"/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Platform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CCD6FF"/>
                </a:solidFill>
                <a:latin typeface="Calibri"/>
              </a:rPr>
              <a:t>How the three modules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AACC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05840"/>
            <a:ext cx="2743200" cy="320040"/>
          </a:xfrm>
          <a:prstGeom prst="rect">
            <a:avLst/>
          </a:prstGeom>
          <a:solidFill>
            <a:srgbClr val="2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325880"/>
            <a:ext cx="2743200" cy="29718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3327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Yield Curve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353312"/>
            <a:ext cx="263347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D3A6B"/>
                </a:solidFill>
                <a:latin typeface="Calibri"/>
              </a:rPr>
              <a:t>RBA F17 data
41 maturities (0–10yr)
Linear &amp; cubic interpolation
Continuous compounding
Risk-free rate r(T)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005840"/>
            <a:ext cx="2743200" cy="32004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08960" y="1325880"/>
            <a:ext cx="2743200" cy="2971800"/>
          </a:xfrm>
          <a:prstGeom prst="rect">
            <a:avLst/>
          </a:prstGeom>
          <a:solidFill>
            <a:srgbClr val="D6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103327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Derivatives Pricing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1353312"/>
            <a:ext cx="263347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D3A6B"/>
                </a:solidFill>
                <a:latin typeface="Calibri"/>
              </a:rPr>
              <a:t>Black-Scholes (Merton)
Binomial CRR tree
Monte Carlo (100k paths)
American early exercise
Closed-form Greeks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005840"/>
            <a:ext cx="2743200" cy="320040"/>
          </a:xfrm>
          <a:prstGeom prst="rect">
            <a:avLst/>
          </a:prstGeom>
          <a:solidFill>
            <a:srgbClr val="2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2743200" cy="29718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03327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Portfolio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8192" y="1353312"/>
            <a:ext cx="263347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D3A6B"/>
                </a:solidFill>
                <a:latin typeface="Calibri"/>
              </a:rPr>
              <a:t>3 strategies (hedge/income/spec)
Historical &amp; Parametric VaR
Multi-asset correlated MC VaR
Scenario analysis
Max Drawdown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377440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5B8DEF"/>
                </a:solidFill>
                <a:latin typeface="Calibri"/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377440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5B8DEF"/>
                </a:solidFill>
                <a:latin typeface="Calibri"/>
              </a:rPr>
              <a:t>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" y="4434840"/>
            <a:ext cx="8778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2D3A6B"/>
                </a:solidFill>
                <a:latin typeface="Calibri"/>
              </a:rPr>
              <a:t>Platform workflow: yield curve → derivative pricing → portfolio risk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Yield Curve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CCD6FF"/>
                </a:solidFill>
                <a:latin typeface="Calibri"/>
              </a:rPr>
              <a:t>RBA F17 Zero-Coupon Rates — as of 30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AACC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05840"/>
            <a:ext cx="2788920" cy="320040"/>
          </a:xfrm>
          <a:prstGeom prst="rect">
            <a:avLst/>
          </a:prstGeom>
          <a:solidFill>
            <a:srgbClr val="2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325880"/>
            <a:ext cx="2788920" cy="33832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33272"/>
            <a:ext cx="2697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Data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353312"/>
            <a:ext cx="267919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D3A6B"/>
                </a:solidFill>
                <a:latin typeface="Calibri"/>
              </a:rPr>
              <a:t>Source: RBA F17 zero-coupon rates
Date: 30-04-2026
Maturities: 41 points
(0yr to 10yr, 0.25yr increments)
Period: 2017-01-03 to 2026-04-30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005840"/>
            <a:ext cx="2788920" cy="32004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08960" y="1325880"/>
            <a:ext cx="2788920" cy="33832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1033272"/>
            <a:ext cx="2697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Interpolation &amp; Compounding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1353312"/>
            <a:ext cx="267919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D3A6B"/>
                </a:solidFill>
                <a:latin typeface="Calibri"/>
              </a:rPr>
              <a:t>Method: Linear (default) or Cubic Spline
Max difference: 0.56bp (immaterial)
Compounding: Continuous
Cubic: smoother, better for
long-dated instruments
Linear: sufficient for 6m options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005840"/>
            <a:ext cx="2788920" cy="320040"/>
          </a:xfrm>
          <a:prstGeom prst="rect">
            <a:avLst/>
          </a:prstGeom>
          <a:solidFill>
            <a:srgbClr val="2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2788920" cy="9144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033272"/>
            <a:ext cx="2697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Risk-Free Rates (r)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8192" y="1353312"/>
            <a:ext cx="2679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D3A6B"/>
                </a:solidFill>
                <a:latin typeface="Calibri"/>
              </a:rPr>
              <a:t/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080760" y="1399032"/>
          <a:ext cx="26974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</a:tblGrid>
              <a:tr h="484632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Maturity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r (%)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D(T)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3 months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4.30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0.9893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6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4.46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0.9779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1 year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4.63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0.9548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2 years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4.69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0.9105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080760" y="3840480"/>
            <a:ext cx="2697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1">
                <a:solidFill>
                  <a:srgbClr val="2D3A6B"/>
                </a:solidFill>
                <a:latin typeface="Calibri"/>
              </a:rPr>
              <a:t>Continuous compounding: r from zero-coupon strip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Yield Curve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CCD6FF"/>
                </a:solidFill>
                <a:latin typeface="Calibri"/>
              </a:rPr>
              <a:t>Linear vs Cubic Spline — Interpolation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AACC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987552"/>
            <a:ext cx="8686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2D3A6B"/>
                </a:solidFill>
                <a:latin typeface="Calibri"/>
              </a:rPr>
              <a:t>Comparison at 7 non-observed maturities. Maximum difference: 0.56bp — immaterial for 6-month option pricing.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28600" y="1417320"/>
          <a:ext cx="86868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  <a:gridCol w="2286000"/>
              </a:tblGrid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Maturity (yr)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Linear Rate (%)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Cubic Rate (%)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Difference (bp)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0.6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4.408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4.404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+0.04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4.641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4.643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−0.02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2.8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4.712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4.715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−0.03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4.762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4.766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−0.04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6.3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4.803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4.808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−0.05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4.831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4.837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−0.06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9.1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4.843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4.843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+0.00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28600" y="4663440"/>
            <a:ext cx="8686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1">
                <a:solidFill>
                  <a:srgbClr val="2D3A6B"/>
                </a:solidFill>
                <a:latin typeface="Calibri"/>
              </a:rPr>
              <a:t>Cubic spline selected for long-dated instruments; linear sufficient for 6m equity options.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Derivatives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CCD6FF"/>
                </a:solidFill>
                <a:latin typeface="Calibri"/>
              </a:rPr>
              <a:t>Black-Scholes · Binomial CRR · Monte Carlo · American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AACC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987552"/>
          <a:ext cx="79552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685800"/>
                <a:gridCol w="685800"/>
                <a:gridCol w="548640"/>
                <a:gridCol w="822960"/>
                <a:gridCol w="822960"/>
                <a:gridCol w="822960"/>
                <a:gridCol w="822960"/>
                <a:gridCol w="82296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Spot($)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σ(%pa)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q(%)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BS Price($)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Binomial($)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MC 100k($)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American($)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Am. Prem.(%)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CBA 6m 5%OTM put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164.29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23.37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2.99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6.39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6.39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6.39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6.46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BHP 6m 5%OTM 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60.35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24.95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3.28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3.09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3.09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3.09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3.09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−0.02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CSL 6m ATM call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98.40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30.91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4.27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8.42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8.42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8.43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8.45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CSL 6m ATM 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98.40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30.91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4.27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8.33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8.33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8.33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8.37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2880" y="2697480"/>
            <a:ext cx="1828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8DEF"/>
                </a:solidFill>
                <a:latin typeface="Calibri"/>
              </a:rPr>
              <a:t>1.  Merton Extension: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697480"/>
            <a:ext cx="69494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2D3A6B"/>
                </a:solidFill>
                <a:latin typeface="Calibri"/>
              </a:rPr>
              <a:t>Continuous dividend yield q applied to all ASX stocks. Without this, calls are overpriced and puts underpriced.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227832"/>
            <a:ext cx="1828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8DEF"/>
                </a:solidFill>
                <a:latin typeface="Calibri"/>
              </a:rPr>
              <a:t>2.  American Premium: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227832"/>
            <a:ext cx="69494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2D3A6B"/>
                </a:solidFill>
                <a:latin typeface="Calibri"/>
              </a:rPr>
              <a:t>Small (&lt;1.2%) at 6-month maturity — European pricing retained. American pricer available for longer maturities.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3758184"/>
            <a:ext cx="1828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8DEF"/>
                </a:solidFill>
                <a:latin typeface="Calibri"/>
              </a:rPr>
              <a:t>3.  MC Validation: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758184"/>
            <a:ext cx="69494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2D3A6B"/>
                </a:solidFill>
                <a:latin typeface="Calibri"/>
              </a:rPr>
              <a:t>All four positions agree with BS to within $0.01 at 100k paths with antithetic variates.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Option Greeks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CCD6FF"/>
                </a:solidFill>
                <a:latin typeface="Calibri"/>
              </a:rPr>
              <a:t>Closed-Form (Black-Scholes) per Portfolio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AACC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005840"/>
          <a:ext cx="877824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188720"/>
                <a:gridCol w="1188720"/>
                <a:gridCol w="1188720"/>
                <a:gridCol w="1737360"/>
                <a:gridCol w="1371600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Δ Delta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Γ Gamma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V Vega($)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Θ Theta($/day)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ρ Rho($)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CBA 6m OTM put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−0.326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0.0132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4.81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−1.79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−0.68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BHP 6m OTM 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0.431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0.0365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1.69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−1.04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0.40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CSL 6m ATM call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0.534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0.0180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16.82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−5.64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0.70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CSL 6m ATM 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−0.447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0.0180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16.65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−4.49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−0.58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82880" y="2633472"/>
            <a:ext cx="8778240" cy="914400"/>
          </a:xfrm>
          <a:prstGeom prst="rect">
            <a:avLst/>
          </a:prstGeom>
          <a:solidFill>
            <a:srgbClr val="D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679192"/>
            <a:ext cx="8595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2D3A6B"/>
                </a:solidFill>
                <a:latin typeface="Calibri"/>
              </a:rPr>
              <a:t>Portfolio Net Aggregates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926080"/>
            <a:ext cx="8595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2D3A6B"/>
                </a:solidFill>
                <a:latin typeface="Calibri"/>
              </a:rPr>
              <a:t>Δ = +2,415 (equity-equivalent exposure)    Γ = −36.0 (net short gamma — short BHP call dominates)    V = +$238 per 1% vol (net long vega — CSL straddle drives this)
Θ = −$16/day (modest time decay)    ρ = −$395 per 1% rate move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3630168"/>
            <a:ext cx="8778240" cy="685800"/>
          </a:xfrm>
          <a:prstGeom prst="rect">
            <a:avLst/>
          </a:prstGeom>
          <a:solidFill>
            <a:srgbClr val="2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3685032"/>
            <a:ext cx="1371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5B8DEF"/>
                </a:solidFill>
                <a:latin typeface="Calibri"/>
              </a:rPr>
              <a:t>Key Insight: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922776"/>
            <a:ext cx="8503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FD Greeks sit on the Derivative base class using type(self); every subclass (Binomial, MC) automatically inherits a complete set of numerical Greeks.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Portfolio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CCD6FF"/>
                </a:solidFill>
                <a:latin typeface="Calibri"/>
              </a:rPr>
              <a:t>Three Strategies — Hedging · Income · Speculation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AACC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987552"/>
          <a:ext cx="74980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"/>
                <a:gridCol w="1005840"/>
                <a:gridCol w="1005840"/>
                <a:gridCol w="1005840"/>
                <a:gridCol w="914400"/>
              </a:tblGrid>
              <a:tr h="25400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Qty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Unit Val($)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Pos. Val($)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Unit Δ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Pos. Δ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CBA equity (long, hedged)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164.30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98,577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600.00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CBA 6m 5% OTM put (protective)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6.39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3,834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−0.326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−195.58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BHP equity (long, covered)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1,700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60.35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102,587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1,700.00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BHP 6m 5% OTM call (short)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−1,700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3.09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−5,251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−0.431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−733.26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CSL equity (long, core)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98.40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98,400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1,000.00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CSL 6m ATM call (straddle)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8.42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4,212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0.534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267.00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CSL 6m ATM put (straddle)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8.33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4,165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−0.447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−223.50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306,524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2,415.43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37160" y="3383280"/>
            <a:ext cx="8869680" cy="146304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345643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8DEF"/>
                </a:solidFill>
                <a:latin typeface="Calibri"/>
              </a:rPr>
              <a:t>CBA: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56432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2D3A6B"/>
                </a:solidFill>
                <a:latin typeface="Calibri"/>
              </a:rPr>
              <a:t>Long equity + protective put → hedging. Reduces directional exposure by ~$32k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3895344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8DEF"/>
                </a:solidFill>
                <a:latin typeface="Calibri"/>
              </a:rPr>
              <a:t>BHP: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95344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2D3A6B"/>
                </a:solidFill>
                <a:latin typeface="Calibri"/>
              </a:rPr>
              <a:t>Long equity + short covered call → income. Caps upside, collects $5,251 premium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4334256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8DEF"/>
                </a:solidFill>
                <a:latin typeface="Calibri"/>
              </a:rPr>
              <a:t>CSL: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34256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2D3A6B"/>
                </a:solidFill>
                <a:latin typeface="Calibri"/>
              </a:rPr>
              <a:t>Long equity + ATM straddle → vol speculation. Net delta ≈+0.09, pure vega bet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Portfolio Risk Exposures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CCD6FF"/>
                </a:solidFill>
                <a:latin typeface="Calibri"/>
              </a:rPr>
              <a:t>Dollar-Delta Decomposition by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AACC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00400"/>
                <a:gridCol w="2286000"/>
                <a:gridCol w="182880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Ticker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Dollar-Delta($)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% of Total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D3A6B"/>
                          </a:solidFill>
                          <a:latin typeface="Calibri"/>
                        </a:rPr>
                        <a:t>CBA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D3A6B"/>
                          </a:solidFill>
                          <a:latin typeface="Calibri"/>
                        </a:rPr>
                        <a:t>Hedging (protective put)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D3A6B"/>
                          </a:solidFill>
                          <a:latin typeface="Calibri"/>
                        </a:rPr>
                        <a:t>66,443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D3A6B"/>
                          </a:solidFill>
                          <a:latin typeface="Calibri"/>
                        </a:rPr>
                        <a:t>29.2%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D3A6B"/>
                          </a:solidFill>
                          <a:latin typeface="Calibri"/>
                        </a:rPr>
                        <a:t>BHP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D3A6B"/>
                          </a:solidFill>
                          <a:latin typeface="Calibri"/>
                        </a:rPr>
                        <a:t>Income (covered call)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D3A6B"/>
                          </a:solidFill>
                          <a:latin typeface="Calibri"/>
                        </a:rPr>
                        <a:t>58,338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D3A6B"/>
                          </a:solidFill>
                          <a:latin typeface="Calibri"/>
                        </a:rPr>
                        <a:t>25.6%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D3A6B"/>
                          </a:solidFill>
                          <a:latin typeface="Calibri"/>
                        </a:rPr>
                        <a:t>CSL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D3A6B"/>
                          </a:solidFill>
                          <a:latin typeface="Calibri"/>
                        </a:rPr>
                        <a:t>Speculation (long straddle)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D3A6B"/>
                          </a:solidFill>
                          <a:latin typeface="Calibri"/>
                        </a:rPr>
                        <a:t>102,757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D3A6B"/>
                          </a:solidFill>
                          <a:latin typeface="Calibri"/>
                        </a:rPr>
                        <a:t>45.2%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227,538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82880" y="2578608"/>
            <a:ext cx="8778240" cy="2331720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624328"/>
            <a:ext cx="8595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2D3A6B"/>
                </a:solidFill>
                <a:latin typeface="Calibri"/>
              </a:rPr>
              <a:t>Key Observations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926080"/>
            <a:ext cx="8503920" cy="1920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2D3A6B"/>
                </a:solidFill>
                <a:latin typeface="Calibri"/>
              </a:rPr>
              <a:t>•  Portfolio total equity deployed: $299,564
•  Net option premium: −$6,961 (net cost of overlays)
•  Annualised portfolio vol: 18.22% (dollar-delta weighted)
•  CBA: Put reduces directional exposure ($99k equity → $66k net delta)
•  BHP: Short call caps upside, reduces effective exposure
•  CSL: Straddle is delta-neutral — a pure volatility 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Value at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CCD6FF"/>
                </a:solidFill>
                <a:latin typeface="Calibri"/>
              </a:rPr>
              <a:t>Historical · Parametric · Multi-Asset MC — 95% confidence, 10-day horizon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AACC"/>
                </a:solidFill>
                <a:latin typeface="Calibri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005840"/>
          <a:ext cx="8686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3840480"/>
              </a:tblGrid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95% VaR ($)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Historical VaR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11,825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Empirical quantile; captures fat tails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Parametric VaR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13,583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Gaussian (z₅₅ × σ); assumes normality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Multi-asset correlated MC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12,775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Full revaluation, 5,000 paths, empirical ρ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Expected Shortfall (Hist)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21,431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Mean loss in worst 5% tail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Expected Shortfall (MC)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15,599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Mean loss in worst 5% tail (MC)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28600" y="3017520"/>
            <a:ext cx="8686800" cy="457200"/>
          </a:xfrm>
          <a:prstGeom prst="rect">
            <a:avLst/>
          </a:prstGeom>
          <a:solidFill>
            <a:srgbClr val="D0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063240"/>
            <a:ext cx="8412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2D3A6B"/>
                </a:solidFill>
                <a:latin typeface="Calibri"/>
              </a:rPr>
              <a:t>Return Distribution Stats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273552"/>
            <a:ext cx="84124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2D3A6B"/>
                </a:solidFill>
                <a:latin typeface="Calibri"/>
              </a:rPr>
              <a:t>Annualised Vol: 18.22%   │   Skewness: Negative   │   Excess Kurtosis: Positive (leptokurtic)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3538728"/>
            <a:ext cx="8686800" cy="804672"/>
          </a:xfrm>
          <a:prstGeom prst="rect">
            <a:avLst/>
          </a:prstGeom>
          <a:solidFill>
            <a:srgbClr val="2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593592"/>
            <a:ext cx="8412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5B8DEF"/>
                </a:solidFill>
                <a:latin typeface="Calibri"/>
              </a:rPr>
              <a:t>Interpretation: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831336"/>
            <a:ext cx="8412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Historical VaR &lt; Parametric VaR — real returns are leptokurtic (fat tails). The empirical 5th percentile is more extreme than −1.645σ implies under normality.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Value at Risk — Leptokurtosis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CCD6FF"/>
                </a:solidFill>
                <a:latin typeface="Calibri"/>
              </a:rPr>
              <a:t>Why Historical VaR &lt; Parametric VaR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AACC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05840"/>
            <a:ext cx="4297680" cy="3977639"/>
          </a:xfrm>
          <a:prstGeom prst="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078992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2D3A6B"/>
                </a:solidFill>
                <a:latin typeface="Calibri"/>
              </a:rPr>
              <a:t>Return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389888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2D3A6B"/>
                </a:solidFill>
                <a:latin typeface="Calibri"/>
              </a:rPr>
              <a:t>Daily P&amp;L distribution has fatter tails than a normal distribution predicts.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1874520"/>
          <a:ext cx="4114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Daily Std Dev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1.15%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Skewness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Negative (left tail)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Excess Kurtosis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&gt; 0 (leptokurtic)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Is Leptokurtic?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3291840"/>
            <a:ext cx="4114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1">
                <a:solidFill>
                  <a:srgbClr val="2D3A6B"/>
                </a:solidFill>
                <a:latin typeface="Calibri"/>
              </a:rPr>
              <a:t>Fat tails: large losses occur more often than the normal model predicts.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657600"/>
            <a:ext cx="4114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2D3A6B"/>
                </a:solidFill>
                <a:latin typeface="Calibri"/>
              </a:rPr>
              <a:t>Per-Ticker VaR Bounds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3886200"/>
          <a:ext cx="4114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Ticker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Dollar-Delta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10-day VaR($)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CBA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66,443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5,089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BHP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58,338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4,770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CSL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102,757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D3A6B"/>
                          </a:solidFill>
                          <a:latin typeface="Calibri"/>
                        </a:rPr>
                        <a:t>10,407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19456">
                <a:tc gridSpan="3"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2D3A6B"/>
                          </a:solidFill>
                          <a:latin typeface="Calibri"/>
                        </a:rPr>
                        <a:t>Indep: $12,528 | Perf.corr: $20,265 | Empirical: $13,583</a:t>
                      </a:r>
                    </a:p>
                  </a:txBody>
                  <a:tcPr>
                    <a:solidFill>
                      <a:srgbClr val="CCD8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663440" y="1005840"/>
            <a:ext cx="4297680" cy="3977639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078992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2D3A6B"/>
                </a:solidFill>
                <a:latin typeface="Calibri"/>
              </a:rPr>
              <a:t>VaR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41732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2D3A6B"/>
                </a:solidFill>
                <a:latin typeface="Calibri"/>
              </a:rPr>
              <a:t>•  Historical VaR ($11,825)  &lt;  Parametric VaR ($13,583)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01168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2D3A6B"/>
                </a:solidFill>
                <a:latin typeface="Calibri"/>
              </a:rPr>
              <a:t>•  This is unusual — normally hist &gt; param for leptokurtic distributions.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60604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2D3A6B"/>
                </a:solidFill>
                <a:latin typeface="Calibri"/>
              </a:rPr>
              <a:t>•  Our portfolio’s diversification across 3 sectors dampens tail extremity.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20040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2D3A6B"/>
                </a:solidFill>
                <a:latin typeface="Calibri"/>
              </a:rPr>
              <a:t>•  Expected Shortfall ($21,431) is 81% above Historical VaR — confirming fat tails exist beyond the threshold.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Stress Correlation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CCD6FF"/>
                </a:solidFill>
                <a:latin typeface="Calibri"/>
              </a:rPr>
              <a:t>Multi-Asset MC VaR Across Three Correlation Regimes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AACC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987552"/>
            <a:ext cx="8686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2D3A6B"/>
                </a:solidFill>
                <a:latin typeface="Calibri"/>
              </a:rPr>
              <a:t>Cross-sector correlations rise sharply in crises (GFC 2008, quant crash 2007), undermining diversification precisely when it is most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444752"/>
            <a:ext cx="3200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2D3A6B"/>
                </a:solidFill>
                <a:latin typeface="Calibri"/>
              </a:rPr>
              <a:t>Empirical Correlation Matrix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28600" y="1719072"/>
          <a:ext cx="292608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731520"/>
                <a:gridCol w="731520"/>
                <a:gridCol w="731520"/>
              </a:tblGrid>
              <a:tr h="205740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CBA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BHP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CSL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CBA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FFFFFF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>
                    <a:solidFill>
                      <a:srgbClr val="5B8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0.07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0.14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BHP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0.07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FFFFFF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>
                    <a:solidFill>
                      <a:srgbClr val="5B8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CSL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0.14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FFFFFF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>
                    <a:solidFill>
                      <a:srgbClr val="5B8DE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28600" y="2624328"/>
            <a:ext cx="2743200" cy="365760"/>
          </a:xfrm>
          <a:prstGeom prst="rect">
            <a:avLst/>
          </a:prstGeom>
          <a:solidFill>
            <a:srgbClr val="2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651760"/>
            <a:ext cx="2651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Base (empirical ρ≈0.3)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990088"/>
            <a:ext cx="2743200" cy="16002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3026664"/>
            <a:ext cx="2651760" cy="1508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2D3A6B"/>
                </a:solidFill>
                <a:latin typeface="Calibri"/>
              </a:rPr>
              <a:t>VaR (95%, 10d): $12,775
ES: $15,599
Normal market conditions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2624328"/>
            <a:ext cx="2743200" cy="3657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651760"/>
            <a:ext cx="2651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Stressed (ρ≈0.85)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2990088"/>
            <a:ext cx="2743200" cy="1600200"/>
          </a:xfrm>
          <a:prstGeom prst="rect">
            <a:avLst/>
          </a:prstGeom>
          <a:solidFill>
            <a:srgbClr val="D6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3026664"/>
            <a:ext cx="2651760" cy="1508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2D3A6B"/>
                </a:solidFill>
                <a:latin typeface="Calibri"/>
              </a:rPr>
              <a:t>VaR (95%, 10d): $17,927
ES: $21,787
+40.3% VaR uplift vs base
Comparable to 2008 GFC peaks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2624328"/>
            <a:ext cx="2743200" cy="36576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651760"/>
            <a:ext cx="2651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Crisis (ρ≈0.99)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2990088"/>
            <a:ext cx="2743200" cy="1600200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3026664"/>
            <a:ext cx="2651760" cy="1508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2D3A6B"/>
                </a:solidFill>
                <a:latin typeface="Calibri"/>
              </a:rPr>
              <a:t>VaR (95%, 10d): $18,379
ES: $22,675
+43.9% VaR uplift vs base
Near perfect-correlation bound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" y="4663440"/>
            <a:ext cx="8686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2D3A6B"/>
                </a:solidFill>
                <a:latin typeface="Calibri"/>
              </a:rPr>
              <a:t>⚠  Key observation: A risk dashboard ignoring correlation regimes systematically underestimates crisis-period losses.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Scenario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CCD6FF"/>
                </a:solidFill>
                <a:latin typeface="Calibri"/>
              </a:rPr>
              <a:t>Portfolio P&amp;L Under Spot &amp; Volatility Shocks (full repricing)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AACC"/>
                </a:solidFill>
                <a:latin typeface="Calibri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005840"/>
          <a:ext cx="86868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280160"/>
                <a:gridCol w="1280160"/>
                <a:gridCol w="1691640"/>
                <a:gridCol w="1691640"/>
              </a:tblGrid>
              <a:tr h="27940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Spot Shock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Vol Shock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P&amp;L ($)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P&amp;L (%)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Base case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+0%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+0%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Equity −10%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−10%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+0%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−$21,782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−7.11%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Equity −20%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−20%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+0%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−$41,180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−13.43%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Equity +10%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+10%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+0%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+$23,402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+7.64%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Equity +20%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+20%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+0%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+$47,565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+15.52%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Vol shock +30%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+0%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+30%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+$2,150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+0.70%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Vol shock +50%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+0%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+50%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+$3,587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+1.17%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Crash (−15%, vol +50%)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−15%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+50%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≈−$22,000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D3A6B"/>
                          </a:solidFill>
                          <a:latin typeface="Calibri"/>
                        </a:rPr>
                        <a:t>≈−7.2%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28600" y="3630168"/>
            <a:ext cx="8686800" cy="123444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685032"/>
            <a:ext cx="8412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2D3A6B"/>
                </a:solidFill>
                <a:latin typeface="Calibri"/>
              </a:rPr>
              <a:t>Key Observations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950208"/>
            <a:ext cx="84124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2D3A6B"/>
                </a:solidFill>
                <a:latin typeface="Calibri"/>
              </a:rPr>
              <a:t>•  Equity shocks dominate P&amp;L: ±20% spot ≈ ±$40–48k P&amp;L
•  Vol shocks alone produce minimal P&amp;L — long CSL straddle (+V) offset by short BHP call (−V)
•  Crash scenario: combined downside equity + vol spike approximates real crisis behaviour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Scenario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CCD6FF"/>
                </a:solidFill>
                <a:latin typeface="Calibri"/>
              </a:rPr>
              <a:t>Yield Curve Shocks — Rate Sensitivity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AACC"/>
                </a:solidFill>
                <a:latin typeface="Calibri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1005840"/>
          <a:ext cx="88696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280160"/>
                <a:gridCol w="1280160"/>
                <a:gridCol w="1554480"/>
                <a:gridCol w="1554480"/>
              </a:tblGrid>
              <a:tr h="2857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Short Shift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Long Shift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P&amp;L ($)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P&amp;L (%)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Base case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+0bp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+0bp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0.000%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Parallel rates +50bp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+50bp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+50bp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−$197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−0.064%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Parallel rates +100bp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+100bp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+100bp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−$392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−0.128%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Parallel rates −50bp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−50bp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−50bp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+$198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+0.065%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Steepener (−50bp short, +50bp long)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−50bp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+50bp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small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small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Flattener (+50bp short, −50bp long)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+50bp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−50bp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small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small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Bear flattener (+100bp short, +25bp)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+100bp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+25bp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≈−$295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D3A6B"/>
                          </a:solidFill>
                          <a:latin typeface="Calibri"/>
                        </a:rPr>
                        <a:t>≈−0.10%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37160" y="3401568"/>
            <a:ext cx="8869680" cy="146304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3447288"/>
            <a:ext cx="8595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2D3A6B"/>
                </a:solidFill>
                <a:latin typeface="Calibri"/>
              </a:rPr>
              <a:t>Key Observations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3730752"/>
            <a:ext cx="859536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2D3A6B"/>
                </a:solidFill>
                <a:latin typeface="Calibri"/>
              </a:rPr>
              <a:t>•  Rate sensitivity is modest (~$197–392 per 50–100bp) — no fixed-income positions, short-dated options
•  Equity risk dominates; rate risk is second-order for this portfolio
•  Rho = −$395 per 1% rate move; yield curve scenarios are consistent with per-position rho
•  A real fixed-income overlay or duration-bearing position would change this significantly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Maximum Drawdown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CCD6FF"/>
                </a:solidFill>
                <a:latin typeface="Calibri"/>
              </a:rPr>
              <a:t>Path-Dependent Portfolio Revaluation vs Equity Equivalent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AACC"/>
                </a:solidFill>
                <a:latin typeface="Calibri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005840"/>
          <a:ext cx="86868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371600"/>
                <a:gridCol w="1828800"/>
                <a:gridCol w="1828800"/>
              </a:tblGrid>
              <a:tr h="28575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MDD (%)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Dollar MDD ($)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Captures Options?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D3A6B"/>
                          </a:solidFill>
                          <a:latin typeface="Calibri"/>
                        </a:rPr>
                        <a:t>Equity-equivalent (delta-weighted)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D3A6B"/>
                          </a:solidFill>
                          <a:latin typeface="Calibri"/>
                        </a:rPr>
                        <a:t>30.86%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D3A6B"/>
                          </a:solidFill>
                          <a:latin typeface="Calibri"/>
                        </a:rPr>
                        <a:t>70,224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D3A6B"/>
                          </a:solidFill>
                          <a:latin typeface="Calibri"/>
                        </a:rPr>
                        <a:t>No (linear approx)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D3A6B"/>
                          </a:solidFill>
                          <a:latin typeface="Calibri"/>
                        </a:rPr>
                        <a:t>Full-portfolio (path-dependent repricing)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D3A6B"/>
                          </a:solidFill>
                          <a:latin typeface="Calibri"/>
                        </a:rPr>
                        <a:t>11.89%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D3A6B"/>
                          </a:solidFill>
                          <a:latin typeface="Calibri"/>
                        </a:rPr>
                        <a:t>36,460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D3A6B"/>
                          </a:solidFill>
                          <a:latin typeface="Calibri"/>
                        </a:rPr>
                        <a:t>Yes (full revaluation)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5B8DEF"/>
                          </a:solidFill>
                          <a:latin typeface="Calibri"/>
                        </a:rPr>
                        <a:t>Reduction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5B8DEF"/>
                          </a:solidFill>
                          <a:latin typeface="Calibri"/>
                        </a:rPr>
                        <a:t>61.5%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5B8DEF"/>
                          </a:solidFill>
                          <a:latin typeface="Calibri"/>
                        </a:rPr>
                        <a:t>33,764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5B8DE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2D3A6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28600" y="2240280"/>
            <a:ext cx="8686800" cy="914400"/>
          </a:xfrm>
          <a:prstGeom prst="rect">
            <a:avLst/>
          </a:prstGeom>
          <a:solidFill>
            <a:srgbClr val="2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31343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B8DEF"/>
                </a:solidFill>
                <a:latin typeface="Calibri"/>
              </a:rPr>
              <a:t>Key Insight: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587752"/>
            <a:ext cx="83210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The option overlays — primarily the CBA protective put — empirically reduce historical drawdown by 61.5%. This is not theoretical; it is observed in the historical price path.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3246120"/>
            <a:ext cx="8686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2D3A6B"/>
                </a:solidFill>
                <a:latin typeface="Calibri"/>
              </a:rPr>
              <a:t>Dollar MDD Comparison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3538728"/>
            <a:ext cx="6400800" cy="365760"/>
          </a:xfrm>
          <a:prstGeom prst="rect">
            <a:avLst/>
          </a:prstGeom>
          <a:solidFill>
            <a:srgbClr val="2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3593592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2D3A6B"/>
                </a:solidFill>
                <a:latin typeface="Calibri"/>
              </a:rPr>
              <a:t>Equity equiv.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593592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2D3A6B"/>
                </a:solidFill>
                <a:latin typeface="Calibri"/>
              </a:rPr>
              <a:t>$70,224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4023360"/>
            <a:ext cx="3323267" cy="3657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4078224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2D3A6B"/>
                </a:solidFill>
                <a:latin typeface="Calibri"/>
              </a:rPr>
              <a:t>Full portfolio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7787" y="4078224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5B8DEF"/>
                </a:solidFill>
                <a:latin typeface="Calibri"/>
              </a:rPr>
              <a:t>$36,460  (−61.5%)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AACC"/>
                </a:solidFill>
                <a:latin typeface="Calibr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Limitations &amp; Extensions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960120"/>
            <a:ext cx="4160520" cy="3977639"/>
          </a:xfrm>
          <a:prstGeom prst="rect">
            <a:avLst/>
          </a:prstGeom>
          <a:solidFill>
            <a:srgbClr val="263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3886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5B8DEF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17320"/>
            <a:ext cx="3886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8DEF"/>
                </a:solidFill>
                <a:latin typeface="Calibri"/>
              </a:rPr>
              <a:t>1.  Sqrt-time VaR scaling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55064"/>
            <a:ext cx="3886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CCD6FF"/>
                </a:solidFill>
                <a:latin typeface="Calibri"/>
              </a:rPr>
              <a:t>Assumes i.i.d. returns. Real returns exhibit volatility clustering. Effect: underestimates multi-day VaR in stressed regimes.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496312"/>
            <a:ext cx="3886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8DEF"/>
                </a:solidFill>
                <a:latin typeface="Calibri"/>
              </a:rPr>
              <a:t>2.  Static volatility (no smile)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734056"/>
            <a:ext cx="3886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CCD6FF"/>
                </a:solidFill>
                <a:latin typeface="Calibri"/>
              </a:rPr>
              <a:t>Black-Scholes assumes constant σ. Real vol is time-varying and mean-reverting. 2-year historical σ may lag regime changes.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575304"/>
            <a:ext cx="3886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8DEF"/>
                </a:solidFill>
                <a:latin typeface="Calibri"/>
              </a:rPr>
              <a:t>3.  Single-underlying MC VaR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813048"/>
            <a:ext cx="3886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CCD6FF"/>
                </a:solidFill>
                <a:latin typeface="Calibri"/>
              </a:rPr>
              <a:t>Portfolio contains three underlyings; the single-asset MC in Portfolio.monte_carlo_var() misses cross-asset correlation. Addressed in Section 7 via multi-asset MC.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960120"/>
            <a:ext cx="4160520" cy="3977639"/>
          </a:xfrm>
          <a:prstGeom prst="rect">
            <a:avLst/>
          </a:prstGeom>
          <a:solidFill>
            <a:srgbClr val="263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051560"/>
            <a:ext cx="3886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5B8DEF"/>
                </a:solidFill>
                <a:latin typeface="Calibri"/>
              </a:rPr>
              <a:t>FUTURE EXTENSIONS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1435608"/>
            <a:ext cx="320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B8DEF"/>
                </a:solidFill>
                <a:latin typeface="Calibri"/>
              </a:rPr>
              <a:t>1.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435608"/>
            <a:ext cx="3611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CCD6FF"/>
                </a:solidFill>
                <a:latin typeface="Calibri"/>
              </a:rPr>
              <a:t>GARCH(1,1) model for time-varying volatility and better multi-day VaR scaling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103120"/>
            <a:ext cx="320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B8DEF"/>
                </a:solidFill>
                <a:latin typeface="Calibri"/>
              </a:rP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103120"/>
            <a:ext cx="3611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CCD6FF"/>
                </a:solidFill>
                <a:latin typeface="Calibri"/>
              </a:rPr>
              <a:t>Volatility smile / local vol surface (Dupire) for OTM option pricing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770632"/>
            <a:ext cx="320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B8DEF"/>
                </a:solidFill>
                <a:latin typeface="Calibri"/>
              </a:rPr>
              <a:t>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770632"/>
            <a:ext cx="3611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CCD6FF"/>
                </a:solidFill>
                <a:latin typeface="Calibri"/>
              </a:rPr>
              <a:t>Fixed-income overlay (interest rate swaps, bond futures) to manage rate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438144"/>
            <a:ext cx="320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B8DEF"/>
                </a:solidFill>
                <a:latin typeface="Calibri"/>
              </a:rPr>
              <a:t>4.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438144"/>
            <a:ext cx="3611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CCD6FF"/>
                </a:solidFill>
                <a:latin typeface="Calibri"/>
              </a:rPr>
              <a:t>Real-time data pipeline — replace cached CSV with live RBA / Bloomberg feed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4105656"/>
            <a:ext cx="320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B8DEF"/>
                </a:solidFill>
                <a:latin typeface="Calibri"/>
              </a:rPr>
              <a:t>5.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105656"/>
            <a:ext cx="3611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CCD6FF"/>
                </a:solidFill>
                <a:latin typeface="Calibri"/>
              </a:rPr>
              <a:t>Stress-testing framework aligned with APRA/Basel III 10-day 99% VaR standard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