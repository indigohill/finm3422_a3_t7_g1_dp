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D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5852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2D3A6B"/>
                </a:solidFill>
                <a:latin typeface="Calibri"/>
              </a:rPr>
              <a:t>FINM3422 — Tutorial 7, Group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852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Multi-Asset Risk &amp;
Derivatives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88920"/>
            <a:ext cx="58521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5B8DEF"/>
                </a:solidFill>
                <a:latin typeface="Calibri"/>
              </a:rPr>
              <a:t>A3 — Risk &amp; Derivatives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5852160" cy="8915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2D3A6B"/>
                </a:solidFill>
                <a:latin typeface="Calibri"/>
              </a:rPr>
              <a:t>Indigo Hill – 47057465
Jordan Westerberg – 48917258
Elizabeth Kvyatkovska – 48426983
Math Al-Abudi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62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2D3A6B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How the three modules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2743200" cy="3200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743200" cy="29718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33272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Yield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353312"/>
            <a:ext cx="263347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D3A6B"/>
                </a:solidFill>
                <a:latin typeface="Calibri"/>
              </a:rPr>
              <a:t>RBA F17 data
41 maturities (0–10yr)
Linear &amp; cubic interpolation
Continuous compounding
Risk-free rate r(T)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05840"/>
            <a:ext cx="2743200" cy="320040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08960" y="1325880"/>
            <a:ext cx="2743200" cy="2971800"/>
          </a:xfrm>
          <a:prstGeom prst="rect">
            <a:avLst/>
          </a:prstGeom>
          <a:solidFill>
            <a:srgbClr val="D6E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033272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Derivatives Pricing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1353312"/>
            <a:ext cx="263347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D3A6B"/>
                </a:solidFill>
                <a:latin typeface="Calibri"/>
              </a:rPr>
              <a:t>Black-Scholes (Merton)
Binomial CRR tree
Monte Carlo (100k paths)
American early exercise
Closed-form Greeks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05840"/>
            <a:ext cx="2743200" cy="3200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1325880"/>
            <a:ext cx="2743200" cy="29718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1033272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Portfolio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1353312"/>
            <a:ext cx="263347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D3A6B"/>
                </a:solidFill>
                <a:latin typeface="Calibri"/>
              </a:rPr>
              <a:t>3 strategies (hedge/income/spec)
Historical &amp; Parametric VaR
Multi-asset correlated MC VaR
Scenario analysis
Max Drawdown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377440"/>
            <a:ext cx="182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5B8DEF"/>
                </a:solidFill>
                <a:latin typeface="Calibri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377440"/>
            <a:ext cx="182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5B8DEF"/>
                </a:solidFill>
                <a:latin typeface="Calibri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4434840"/>
            <a:ext cx="8778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2D3A6B"/>
                </a:solidFill>
                <a:latin typeface="Calibri"/>
              </a:rPr>
              <a:t>Platform workflow: yield curve → derivative pricing → portfolio risk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Yield Curve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RBA F17 Zero-Coupon Rates — as of 30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4023360" cy="3200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4023360" cy="15087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033272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353312"/>
            <a:ext cx="39136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2D3A6B"/>
                </a:solidFill>
                <a:latin typeface="Calibri"/>
              </a:rPr>
              <a:t>Source: RBA F17 zero-coupon rates
Date: 30-04-2026  |  41 maturities (0–10yr, 0.25yr steps)
Period: 2017-01-03 to 2026-04-30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2907792"/>
            <a:ext cx="4023360" cy="3200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227832"/>
            <a:ext cx="4023360" cy="15087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2935224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Risk-Free Rates r (continuous, from zero-coupon strip)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" y="3255264"/>
            <a:ext cx="39136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2D3A6B"/>
                </a:solidFill>
                <a:latin typeface="Calibri"/>
              </a:rPr>
              <a:t/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28600" y="3255264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Maturity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r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D(T)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3 months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4.30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0.9893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0.9779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 year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4.63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0.9548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2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0.9105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chart1_yiel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05840"/>
            <a:ext cx="4663440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Yield Curve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Linear vs Cubic Spline — Interpolation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87552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Comparison at 7 non-observed maturities. Maximum difference: 0.56bp — immaterial for 6-month option pricing.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417320"/>
          <a:ext cx="86868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</a:tblGrid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Maturity (yr)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Linear Rate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Cubic Rate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Difference (bp)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4.408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4.404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+0.04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4.643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4.712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4.715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6.3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4.808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−0.05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4.843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4.843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28600" y="4663440"/>
            <a:ext cx="8686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D3A6B"/>
                </a:solidFill>
                <a:latin typeface="Calibri"/>
              </a:rPr>
              <a:t>Cubic spline selected for long-dated instruments; linear sufficient for 6m equity options.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Derivatives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Black-Scholes · Binomial CRR · Monte Carlo · American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" y="987552"/>
          <a:ext cx="79552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85800"/>
                <a:gridCol w="685800"/>
                <a:gridCol w="548640"/>
                <a:gridCol w="822960"/>
                <a:gridCol w="822960"/>
                <a:gridCol w="822960"/>
                <a:gridCol w="822960"/>
                <a:gridCol w="822960"/>
              </a:tblGrid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Spot($)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σ(%pa)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q(%)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BS Price($)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Binomial($)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MC 100k($)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American($)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Am. Prem.(%)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CBA 6m 5%OTM put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164.29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23.37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2.99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6.46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BHP 6m 5%OTM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24.95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−0.02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call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98.40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30.91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4.27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8.43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98.40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30.91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4.27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8.37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art2_option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468880"/>
            <a:ext cx="886968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Option Greeks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Closed-Form (Black-Scholes) per Portfolio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05840"/>
          <a:ext cx="8778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88720"/>
                <a:gridCol w="1188720"/>
                <a:gridCol w="1188720"/>
                <a:gridCol w="1737360"/>
                <a:gridCol w="1371600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Δ Delta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Γ Gamma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 Vega($)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Θ Theta($/day)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ρ Rho($)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CBA 6m OTM put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−0.326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0.0132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4.81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−1.79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−0.68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BHP 6m OTM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0.0365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−1.04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call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0.534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0.0180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16.82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−5.64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−0.447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0.0180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16.65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−4.49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−0.58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2633472"/>
            <a:ext cx="8778240" cy="914400"/>
          </a:xfrm>
          <a:prstGeom prst="rect">
            <a:avLst/>
          </a:prstGeom>
          <a:solidFill>
            <a:srgbClr val="D8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679192"/>
            <a:ext cx="85953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2D3A6B"/>
                </a:solidFill>
                <a:latin typeface="Calibri"/>
              </a:rPr>
              <a:t>Portfolio Net Aggregates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926080"/>
            <a:ext cx="85953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2D3A6B"/>
                </a:solidFill>
                <a:latin typeface="Calibri"/>
              </a:rPr>
              <a:t>Δ = +2,415 (equity-equivalent exposure)    Γ = −36.0 (net short gamma — short BHP call dominates)    V = +$238 per 1% vol (net long vega — CSL straddle drives this)
Θ = −$16/day (modest time decay)    ρ = −$395 per 1% rate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3630168"/>
            <a:ext cx="8778240" cy="6858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3685032"/>
            <a:ext cx="1371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5B8DEF"/>
                </a:solidFill>
                <a:latin typeface="Calibri"/>
              </a:rPr>
              <a:t>Key Insight: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922776"/>
            <a:ext cx="8503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FD Greeks sit on the Derivative base class using type(self); every subclass (Binomial, MC) automatically inherits a complete set of numerical Greeks.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Portfolio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Three Strategies — Hedging · Income · Speculation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" y="987552"/>
          <a:ext cx="7498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"/>
                <a:gridCol w="1005840"/>
                <a:gridCol w="1005840"/>
                <a:gridCol w="1005840"/>
                <a:gridCol w="914400"/>
              </a:tblGrid>
              <a:tr h="254000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Unit Val($)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Pos. Val($)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Unit Δ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Pos. Δ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CBA equity (long, hedged)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164.30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98,577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600.00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CBA 6m 5% OTM put (protective)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3,834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−0.326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−195.58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BHP equity (long, covered)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60.35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102,587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1,700.00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BHP 6m 5% OTM call (short)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3.09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−5,251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−0.431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−733.26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CSL equity (long, core)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98.40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98,400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1,000.00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call (straddle)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4,212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0.534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267.00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CSL 6m ATM put (straddle)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8.33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4,165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−0.447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−223.50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306,524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2,415.43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37160" y="3383280"/>
            <a:ext cx="8869680" cy="146304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3456432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CBA: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56432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Long equity + protective put → hedging. Reduces directional exposure by ~$32k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3895344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BHP: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95344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Long equity + short covered call → income. Caps upside, collects $5,251 premium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4334256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CSL: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34256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Long equity + ATM straddle → vol speculation. Net delta ≈+0.09, pure vega bet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Portfolio Risk Exposures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Dollar-Delta Decomposition by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05840"/>
          <a:ext cx="3657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645920"/>
                <a:gridCol w="914400"/>
                <a:gridCol w="548640"/>
              </a:tblGrid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Dollar-Delta($)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% of Total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CBA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Hedging (protective put)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66,443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29.2%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BHP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Income (covered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58,338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CSL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Speculation (long straddle)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102,757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45.2%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227,538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art3_dollar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960120"/>
            <a:ext cx="5029200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2423160"/>
            <a:ext cx="3657600" cy="2423160"/>
          </a:xfrm>
          <a:prstGeom prst="rect">
            <a:avLst/>
          </a:prstGeom>
          <a:solidFill>
            <a:srgbClr val="E0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468880"/>
            <a:ext cx="34747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2D3A6B"/>
                </a:solidFill>
                <a:latin typeface="Calibri"/>
              </a:rPr>
              <a:t>Key 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752344"/>
            <a:ext cx="347472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2D3A6B"/>
                </a:solidFill>
                <a:latin typeface="Calibri"/>
              </a:rPr>
              <a:t>• Total equity: $299,564
• Net option premium: −$6,961
• Portfolio vol: 18.22% (annualised)
• CBA put reduces $99k → $66k delta
• BHP short call caps upside
• CSL straddle = pure vol 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Value at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Historical · Parametric · Multi-Asset MC — 95% confidence, 10-day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chart4_pn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87552"/>
            <a:ext cx="5760720" cy="397763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1005840"/>
          <a:ext cx="3017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23444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95% VaR 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Historical VaR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11,825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Parametric 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13,583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MC correlated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12,775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ES (Hist)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21,431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ES (MC)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15,599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989320" y="3017520"/>
            <a:ext cx="3017520" cy="19202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3072384"/>
            <a:ext cx="28346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5B8DEF"/>
                </a:solidFill>
                <a:latin typeface="Calibri"/>
              </a:rPr>
              <a:t>Interpretation: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3328416"/>
            <a:ext cx="2834640" cy="1508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 i="0">
                <a:solidFill>
                  <a:srgbClr val="FFFFFF"/>
                </a:solidFill>
                <a:latin typeface="Calibri"/>
              </a:rPr>
              <a:t>Hist VaR &lt; Param VaR — real returns are leptokurtic (fat tails). Empirical 5th pctl is more extreme than −1.645σ implies.
Ann. Vol: 18.22%
Skewness: Negative
Kurtosis: Leptokurtic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Value at Risk — Leptokurtosis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Why Historical VaR &lt; Parametric 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4297680" cy="3977639"/>
          </a:xfrm>
          <a:prstGeom prst="rect">
            <a:avLst/>
          </a:prstGeom>
          <a:solidFill>
            <a:srgbClr val="E8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78992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2D3A6B"/>
                </a:solidFill>
                <a:latin typeface="Calibri"/>
              </a:rPr>
              <a:t>Return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89888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Daily P&amp;L distribution has fatter tails than a normal distribution predicts.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8745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Daily Std Dev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1.15%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Skewness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Negative (left tail)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Excess Kurtosis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&gt; 0 (leptokurtic)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Is Leptokurtic?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291840"/>
            <a:ext cx="4114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D3A6B"/>
                </a:solidFill>
                <a:latin typeface="Calibri"/>
              </a:rPr>
              <a:t>Fat tails: large losses occur more often than the normal model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657600"/>
            <a:ext cx="4114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2D3A6B"/>
                </a:solidFill>
                <a:latin typeface="Calibri"/>
              </a:rPr>
              <a:t>Per-Ticker VaR Bounds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3886200"/>
          <a:ext cx="4114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Dollar-Delta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10-day VaR($)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CBA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66,443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5,089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BHP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58,338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4,770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CSL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102,757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10,407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19456">
                <a:tc gridSpan="3">
                  <a:txBody>
                    <a:bodyPr wrap="square"/>
                    <a:lstStyle/>
                    <a:p>
                      <a:pPr algn="ctr"/>
                      <a:r>
                        <a:rPr sz="700" b="0" i="0">
                          <a:solidFill>
                            <a:srgbClr val="2D3A6B"/>
                          </a:solidFill>
                          <a:latin typeface="Calibri"/>
                        </a:rPr>
                        <a:t>Indep: $12,528 | Perf.corr: $20,265 | Empirical: $13,583</a:t>
                      </a:r>
                    </a:p>
                  </a:txBody>
                  <a:tcPr>
                    <a:solidFill>
                      <a:srgbClr val="CCD8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663440" y="1005840"/>
            <a:ext cx="4297680" cy="3977639"/>
          </a:xfrm>
          <a:prstGeom prst="rect">
            <a:avLst/>
          </a:prstGeom>
          <a:solidFill>
            <a:srgbClr val="E0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078992"/>
            <a:ext cx="4114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2D3A6B"/>
                </a:solidFill>
                <a:latin typeface="Calibri"/>
              </a:rPr>
              <a:t>VaR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41732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•  Historical VaR ($11,825)  &lt;  Parametric VaR ($13,583)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•  This is unusual — normally hist &gt; param for leptokurtic distributions.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60604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•  Our portfolio’s diversification across 3 sectors dampens tail extremity.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200400"/>
            <a:ext cx="4114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2D3A6B"/>
                </a:solidFill>
                <a:latin typeface="Calibri"/>
              </a:rPr>
              <a:t>•  Expected Shortfall ($21,431) is 81% above Historical VaR — confirming fat tails exist beyond the threshold.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Stress Correlation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Multi-Asset MC VaR Across Three Correlation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87552"/>
            <a:ext cx="8686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2D3A6B"/>
                </a:solidFill>
                <a:latin typeface="Calibri"/>
              </a:rPr>
              <a:t>Cross-sector correlations rise sharply in crises (GFC 2008, quant crash 2007), undermining diversification precisely when it is most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371600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2D3A6B"/>
                </a:solidFill>
                <a:latin typeface="Calibri"/>
              </a:rPr>
              <a:t>Empirical Correlation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618488"/>
          <a:ext cx="29260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731520"/>
                <a:gridCol w="731520"/>
              </a:tblGrid>
              <a:tr h="18288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CBA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BHP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CSL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CBA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FFFFF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5B8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BHP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FFFFF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5B8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CSL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FFFFFF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5B8DE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chart5_correlation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423160"/>
            <a:ext cx="886968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" y="4709160"/>
            <a:ext cx="8686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2D3A6B"/>
                </a:solidFill>
                <a:latin typeface="Calibri"/>
              </a:rPr>
              <a:t>Key observation: A risk dashboard ignoring correlation regimes systematically underestimates crisis-period losses.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Portfolio P&amp;L Under Spot &amp; Volatility Shocks (full repricing)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987552"/>
          <a:ext cx="3200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31520"/>
              </a:tblGrid>
              <a:tr h="25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P&amp;L 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P&amp;L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Equity −10%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−$21,782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−7.11%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Equity −20%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−$41,180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−13.43%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Equity +10%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+$23,402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+7.64%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Equity +20%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+$47,565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+15.52%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Vol shock +30%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+$2,150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+0.70%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Vol shock +50%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+$3,587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+1.17%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Crash (−15%+50%vol)</a:t>
                      </a:r>
                    </a:p>
                  </a:txBody>
                  <a:tcPr>
                    <a:solidFill>
                      <a:srgbClr val="FFC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≈−$22,000</a:t>
                      </a:r>
                    </a:p>
                  </a:txBody>
                  <a:tcPr>
                    <a:solidFill>
                      <a:srgbClr val="FFC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D3A6B"/>
                          </a:solidFill>
                          <a:latin typeface="Calibri"/>
                        </a:rPr>
                        <a:t>≈−7.2%</a:t>
                      </a:r>
                    </a:p>
                  </a:txBody>
                  <a:tcPr>
                    <a:solidFill>
                      <a:srgbClr val="FFCCCC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art6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87552"/>
            <a:ext cx="553212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4434840"/>
            <a:ext cx="8686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 i="0">
                <a:solidFill>
                  <a:srgbClr val="2D3A6B"/>
                </a:solidFill>
                <a:latin typeface="Calibri"/>
              </a:rPr>
              <a:t>•  Equity shocks dominate P&amp;L: ±20% spot ≈ ±$40–48k P&amp;L
•  Vol shocks alone are minimal — long CSL straddle offset by short BHP call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Yield Curve Shocks — Rate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" y="1005840"/>
          <a:ext cx="8869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  <a:gridCol w="1554480"/>
                <a:gridCol w="1554480"/>
              </a:tblGrid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Short Shift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Long Shift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P&amp;L 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P&amp;L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+0bp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+0bp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0.000%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Parallel rates +50bp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−$197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−0.064%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Parallel rates +100bp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+100bp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+100bp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−$392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−0.128%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Parallel rates −50bp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+$198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+0.065%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Steepener (−50bp short, +50bp long)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Flattener (+50bp short, −50bp long)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−50bp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Bear flattener (+100bp short, +25bp)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+100bp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+25bp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≈−$295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D3A6B"/>
                          </a:solidFill>
                          <a:latin typeface="Calibri"/>
                        </a:rPr>
                        <a:t>≈−0.10%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37160" y="3401568"/>
            <a:ext cx="8869680" cy="146304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3447288"/>
            <a:ext cx="85953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2D3A6B"/>
                </a:solidFill>
                <a:latin typeface="Calibri"/>
              </a:rPr>
              <a:t>Key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730752"/>
            <a:ext cx="859536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2D3A6B"/>
                </a:solidFill>
                <a:latin typeface="Calibri"/>
              </a:rPr>
              <a:t>•  Rate sensitivity is modest (~$197–392 per 50–100bp) — no fixed-income positions, short-dated options
•  Equity risk dominates; rate risk is second-order for this portfolio
•  Rho = −$395 per 1% rate move; yield curve scenarios are consistent with per-position rho
•  A real fixed-income overlay or duration-bearing position would change this significantly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Maximum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CCD6FF"/>
                </a:solidFill>
                <a:latin typeface="Calibri"/>
              </a:rPr>
              <a:t>Path-Dependent Portfolio Revaluation vs Equity Equivalent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987552"/>
          <a:ext cx="7772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280160"/>
                <a:gridCol w="1828800"/>
                <a:gridCol w="1188720"/>
              </a:tblGrid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MDD (%)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Dollar MDD ($)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Options?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Equity-equivalent (delta-weighted)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30.86%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70,224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Full-portfolio (path-dependent repricing)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11.89%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36,460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D3A6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5B8DEF"/>
                          </a:solidFill>
                          <a:latin typeface="Calibri"/>
                        </a:rPr>
                        <a:t>Reduction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5B8DEF"/>
                          </a:solidFill>
                          <a:latin typeface="Calibri"/>
                        </a:rPr>
                        <a:t>61.5%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5B8DEF"/>
                          </a:solidFill>
                          <a:latin typeface="Calibri"/>
                        </a:rPr>
                        <a:t>33,764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5B8DE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D3A6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art7_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057400"/>
            <a:ext cx="8869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48463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AACC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Limitations &amp; Extensions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9144000" cy="36576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960120"/>
            <a:ext cx="4160520" cy="3977639"/>
          </a:xfrm>
          <a:prstGeom prst="rect">
            <a:avLst/>
          </a:prstGeom>
          <a:solidFill>
            <a:srgbClr val="2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3886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5B8DE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17320"/>
            <a:ext cx="3886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1.  Sqrt-time VaR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55064"/>
            <a:ext cx="3886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CCD6FF"/>
                </a:solidFill>
                <a:latin typeface="Calibri"/>
              </a:rPr>
              <a:t>Assumes i.i.d. returns. Real returns exhibit volatility clustering. Effect: underestimates multi-day VaR in stressed regimes.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96312"/>
            <a:ext cx="3886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2.  Static volatility (no smile)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734056"/>
            <a:ext cx="3886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CCD6FF"/>
                </a:solidFill>
                <a:latin typeface="Calibri"/>
              </a:rPr>
              <a:t>Black-Scholes assumes constant σ. Real vol is time-varying and mean-reverting. 2-year historical σ may lag regime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575304"/>
            <a:ext cx="3886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B8DEF"/>
                </a:solidFill>
                <a:latin typeface="Calibri"/>
              </a:rPr>
              <a:t>3.  Single-underlying MC 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813048"/>
            <a:ext cx="3886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CCD6FF"/>
                </a:solidFill>
                <a:latin typeface="Calibri"/>
              </a:rPr>
              <a:t>Portfolio contains three underlyings; the single-asset MC in Portfolio.monte_carlo_var() misses cross-asset correlation. Addressed in Section 7 via multi-asset MC.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960120"/>
            <a:ext cx="4160520" cy="3977639"/>
          </a:xfrm>
          <a:prstGeom prst="rect">
            <a:avLst/>
          </a:prstGeom>
          <a:solidFill>
            <a:srgbClr val="26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051560"/>
            <a:ext cx="3886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5B8DEF"/>
                </a:solidFill>
                <a:latin typeface="Calibri"/>
              </a:rPr>
              <a:t>FUTURE EXTENSIONS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435608"/>
            <a:ext cx="320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5B8DEF"/>
                </a:solidFill>
                <a:latin typeface="Calibri"/>
              </a:rPr>
              <a:t>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35608"/>
            <a:ext cx="3611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CCD6FF"/>
                </a:solidFill>
                <a:latin typeface="Calibri"/>
              </a:rPr>
              <a:t>GARCH(1,1) model for time-varying volatility and better multi-day VaR scaling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103120"/>
            <a:ext cx="320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5B8DEF"/>
                </a:solidFill>
                <a:latin typeface="Calibri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103120"/>
            <a:ext cx="3611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CCD6FF"/>
                </a:solidFill>
                <a:latin typeface="Calibri"/>
              </a:rPr>
              <a:t>Volatility smile / local vol surface (Dupire) for OTM option pricing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770632"/>
            <a:ext cx="320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5B8DEF"/>
                </a:solidFill>
                <a:latin typeface="Calibri"/>
              </a:rPr>
              <a:t>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770632"/>
            <a:ext cx="3611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CCD6FF"/>
                </a:solidFill>
                <a:latin typeface="Calibri"/>
              </a:rPr>
              <a:t>Fixed-income overlay (interest rate swaps, bond futures) to manage rate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38144"/>
            <a:ext cx="320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5B8DE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438144"/>
            <a:ext cx="3611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CCD6FF"/>
                </a:solidFill>
                <a:latin typeface="Calibri"/>
              </a:rPr>
              <a:t>Real-time data pipeline — replace cached CSV with live RBA / Bloomberg feed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105656"/>
            <a:ext cx="320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5B8DEF"/>
                </a:solidFill>
                <a:latin typeface="Calibri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105656"/>
            <a:ext cx="3611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50" b="0" i="0">
                <a:solidFill>
                  <a:srgbClr val="CCD6FF"/>
                </a:solidFill>
                <a:latin typeface="Calibri"/>
              </a:rPr>
              <a:t>Stress-testing framework aligned with APRA/Basel III 10-day 99% VaR standard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